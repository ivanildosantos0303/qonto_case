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77777"/>
                </a:solidFill>
              </a:rPr>
              <a:t>Rules · Machine Learning ·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7777"/>
                </a:solidFill>
              </a:rPr>
              <a:t>Qonto Case Study  ·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114300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5778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4864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865376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</a:rPr>
              <a:t>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76272"/>
            <a:ext cx="5577840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03704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0.4% fraud rate in Nov–Dec test window (2× train rate)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57784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542032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Best rule RG: 37% recall, 72% precision — strong but misses 63% of fraud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52928"/>
            <a:ext cx="5577840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880360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is_top_currency_fraud had label leakage from full dataset (fixed to train-only)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91256"/>
            <a:ext cx="557784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218688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Rolling windows verified leakage-free via assertion (39,877 first-card rows checked)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93592"/>
            <a:ext cx="55778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93592"/>
            <a:ext cx="54864" cy="347472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630168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BC61"/>
                </a:solidFill>
              </a:rPr>
              <a:t>KEY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41063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9684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Recall lift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37% → 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968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+43pp vs. best rule 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88536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3159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PR-AUC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315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0.74 (test)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315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vs. random baseline 0.004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36007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Net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BC61"/>
                </a:solidFill>
              </a:rPr>
              <a:t>€162k / 2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663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€342k prevented − €181k blocked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83479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0109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Overfitting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A08C"/>
                </a:solidFill>
              </a:rPr>
              <a:t>Gap ≈ 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010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train 0.7311 / test 0.7406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828800"/>
            <a:ext cx="55778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1828800"/>
            <a:ext cx="54864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1865376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SOLUTION PROPOSED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176272"/>
            <a:ext cx="5577840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2203704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Hybrid: RG rule (immediate) + LightGBM model (shadow → live)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514600"/>
            <a:ext cx="557784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2542032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28 features — velocity windows, scale-free ratios, categorical risk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852928"/>
            <a:ext cx="5577840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2880360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Three-tier response: auto-block ≥ 0.70 · queue 0.33–0.70 · pass &lt; 0.33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191256"/>
            <a:ext cx="557784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218688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— SHAP explanation logged per auto-block for PSD2 dispute resolution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593592"/>
            <a:ext cx="55778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3593592"/>
            <a:ext cx="54864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5664" y="3630168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NEXT STEPS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941063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3968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39C12"/>
                </a:solidFill>
              </a:rPr>
              <a:t>Week 1–2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68496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Deploy RG rule to production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4288536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39C12"/>
                </a:solidFill>
              </a:rPr>
              <a:t>Week 3–6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31596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ML in shadow mode — no live blocking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4636007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19088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39C12"/>
                </a:solidFill>
              </a:rPr>
              <a:t>Week 7–10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66344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Soft launch — auto-block ≥ 0.70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983479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9088" y="5010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39C12"/>
                </a:solidFill>
              </a:rPr>
              <a:t>Month 4+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501091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Champion-challenger + monthly retraining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777777"/>
                </a:solidFill>
              </a:rPr>
              <a:t>Confidential — For evaluation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TL;DR — what we found and what we recommend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36576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36576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887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17904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54533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0.4% fraud rate in test (2× train rate)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93391"/>
            <a:ext cx="365760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02082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Best rule (RG): only 37% 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4963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No velocity / behaviour signals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44368"/>
            <a:ext cx="365760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97180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is_top_currency_fraud: leakage (fixed)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19856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44728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Manual triage for every alert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115568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170432"/>
            <a:ext cx="36576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1887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Solution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517904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154533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Hybrid: RG rule + LightGBM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1993391"/>
            <a:ext cx="365760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202082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28 features — no look-ahead leakage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468880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24963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Three-tier auto-block / queue /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2944368"/>
            <a:ext cx="365760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297180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SHAP explanation per 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3419856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344728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PR-AUC as primary metric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115568"/>
            <a:ext cx="3657600" cy="54864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170432"/>
            <a:ext cx="36576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11887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BC61"/>
                </a:solidFill>
              </a:rPr>
              <a:t>Impact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517904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154533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Recall: 37% → 80% vs. RG rule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993391"/>
            <a:ext cx="365760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202082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Net value: €162k (61-day test)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468880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4963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+€310k additional revenue / month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944368"/>
            <a:ext cx="365760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297180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Analyst queue: ~10 alerts/day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419856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344728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Shadow mode → prod in 10 weeks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041648"/>
            <a:ext cx="114300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416052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19709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E8E8"/>
                </a:solidFill>
              </a:rPr>
              <a:t>587k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7091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Transactions analysed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416052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419709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74C3C"/>
                </a:solidFill>
              </a:rPr>
              <a:t>0.4%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47091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Test fraud 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16052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19709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BC61"/>
                </a:solidFill>
              </a:rPr>
              <a:t>+43pp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47091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Recall lift vs. RG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416052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419709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39C12"/>
                </a:solidFill>
              </a:rPr>
              <a:t>&lt; 60d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47091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Payback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— Data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587,303 transactions · Jan–Dec 2022 · out-of-time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3949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Dataset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587k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Total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50876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54533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</a:rPr>
              <a:t>1,392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Total frauds (0.24%)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1460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5117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Raw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51460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55117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E8E8"/>
                </a:solidFill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063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Full year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114300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941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Out-of-time split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05072"/>
            <a:ext cx="3474720" cy="47548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02336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TRAIN  Jan–Oct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22452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8E8"/>
                </a:solidFill>
              </a:rPr>
              <a:t>469,292 txns · 923 frauds · 0.20%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4005072"/>
            <a:ext cx="182880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402336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TEST  Nov–Dec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422452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E8E8"/>
                </a:solidFill>
              </a:rPr>
              <a:t>118,011 · 469 frauds · 0.40%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72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77777"/>
                </a:solidFill>
              </a:rPr>
              <a:t>← chronological cut, no shuffling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115568"/>
            <a:ext cx="5577840" cy="3657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188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Data quality findings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508760"/>
            <a:ext cx="5577840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508760"/>
            <a:ext cx="45720" cy="4937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536192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BC61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53619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is_top_currency_fraud: now train-only encoding — leakage fixed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039112"/>
            <a:ext cx="5577840" cy="49377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2039112"/>
            <a:ext cx="45720" cy="4937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066543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066543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0.49% missing payment_method — imputed with mode 'online'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569463"/>
            <a:ext cx="5577840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2569463"/>
            <a:ext cx="45720" cy="4937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596896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2596896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time_settled_diff: 2.1% zeros — first transactions have diff =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099815"/>
            <a:ext cx="5577840" cy="49377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3099815"/>
            <a:ext cx="45720" cy="4937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127248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BC61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12724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Rolling windows: closed='left' ensures backward-only lookback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630168"/>
            <a:ext cx="5577840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630168"/>
            <a:ext cx="45720" cy="4937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657600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BC61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3657600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Leakage assertion passed: 39,877 first-card rows have zero rolling counts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160520"/>
            <a:ext cx="5577840" cy="49377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4160520"/>
            <a:ext cx="45720" cy="4937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187952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BC61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418795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No future features — OOT split respects chronological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— Expert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7 rules from bivariate EDA · Best: RG (72% precision, 37% recall on 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07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Rule performance — test set (118k transactions · 469 frauds)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16736"/>
            <a:ext cx="68580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35331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316736"/>
            <a:ext cx="498348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13533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16736"/>
            <a:ext cx="91440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3" y="1353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316736"/>
            <a:ext cx="91440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3" y="1353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316736"/>
            <a:ext cx="73152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8704" y="13533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316736"/>
            <a:ext cx="91440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13533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Alerts/wk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645919"/>
            <a:ext cx="6858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1673351"/>
            <a:ext cx="594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1645919"/>
            <a:ext cx="49834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1673351"/>
            <a:ext cx="4892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Top-5 fraud currencies (MOP/GTQ/HKD/VND/JPY)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645919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3" y="1673351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0.82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645919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04303" y="1673351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1645919"/>
            <a:ext cx="7315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1673351"/>
            <a:ext cx="640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645919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0224" y="1673351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1975104"/>
            <a:ext cx="6858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2002536"/>
            <a:ext cx="594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1975104"/>
            <a:ext cx="498348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" y="2002536"/>
            <a:ext cx="4892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Top-curr OR (physical+online AND ≥€300)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975104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3" y="200253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1975104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04303" y="200253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1975104"/>
            <a:ext cx="7315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18704" y="2002536"/>
            <a:ext cx="640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1975104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0224" y="200253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304288"/>
            <a:ext cx="6858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" y="2331720"/>
            <a:ext cx="594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" y="2304288"/>
            <a:ext cx="49834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6424" y="2331720"/>
            <a:ext cx="4892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Top-curr OR (physical+online AND ≥€200)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304288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9903" y="2331720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2304288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04303" y="2331720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2304288"/>
            <a:ext cx="7315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18704" y="2331720"/>
            <a:ext cx="640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304288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0224" y="2331720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~82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2633472"/>
            <a:ext cx="6858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2660903"/>
            <a:ext cx="594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560" y="2633472"/>
            <a:ext cx="498348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6424" y="2660903"/>
            <a:ext cx="4892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Top-curr OR (non-EUR AND burst ≤300s AND ≥€300)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2633472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9903" y="2660903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9440" y="2633472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04303" y="2660903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0.28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2633472"/>
            <a:ext cx="7315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18704" y="2660903"/>
            <a:ext cx="640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95360" y="2633472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50224" y="2660903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2962656"/>
            <a:ext cx="6858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" y="2990087"/>
            <a:ext cx="594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51560" y="2962656"/>
            <a:ext cx="49834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6424" y="2990087"/>
            <a:ext cx="4892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Top-curr OR (phys+online+≥300) OR (non-EUR+burst+≥500)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2962656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9903" y="2990087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0.29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9440" y="2962656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04303" y="2990087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2962656"/>
            <a:ext cx="7315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18704" y="2990087"/>
            <a:ext cx="640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95360" y="2962656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50224" y="2990087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~117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3291840"/>
            <a:ext cx="6858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0624" y="3319272"/>
            <a:ext cx="594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RF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1560" y="3291840"/>
            <a:ext cx="498348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06424" y="3319272"/>
            <a:ext cx="4892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Top-curr AND (online OR ≥€200)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5040" y="3291840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89903" y="3319272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0.64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49440" y="3291840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04303" y="3319272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0.40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63840" y="3291840"/>
            <a:ext cx="7315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18704" y="3319272"/>
            <a:ext cx="640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0.49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95360" y="3291840"/>
            <a:ext cx="9144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50224" y="3319272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~56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3621024"/>
            <a:ext cx="6858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0624" y="3648456"/>
            <a:ext cx="594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RG ★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1560" y="3621024"/>
            <a:ext cx="49834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6424" y="3648456"/>
            <a:ext cx="4892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RF AND evening (hour_of_day ≥ 16)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35040" y="3621024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89903" y="364845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0.72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49440" y="3621024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04303" y="364845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63840" y="3621024"/>
            <a:ext cx="7315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18704" y="3648456"/>
            <a:ext cx="640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0.49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95360" y="3621024"/>
            <a:ext cx="9144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50224" y="364845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~46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3803904"/>
            <a:ext cx="114300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65760" y="3913632"/>
            <a:ext cx="557784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39867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Why RG is the recommended baseline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60" y="4279392"/>
            <a:ext cx="5577840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5488" y="43068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Stacks three high-signal dimensions: currency × payment method/amount × hour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626864"/>
            <a:ext cx="557784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46542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Precision 9× higher than non-EUR currency alone (RA) — far fewer FPs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5760" y="4974336"/>
            <a:ext cx="5577840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5488" y="50017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Human-interpretable: analyst explains every flag in one sentence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5321808"/>
            <a:ext cx="5577840" cy="32918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5488" y="5349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Production-ready in 2 weeks — no ML infrastructure required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17920" y="3913632"/>
            <a:ext cx="5577840" cy="365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17920" y="39867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RG vs. ML — head-to-head (test set)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17920" y="4242816"/>
            <a:ext cx="2011680" cy="31089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72783" y="42793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29600" y="4242816"/>
            <a:ext cx="1188720" cy="31089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284464" y="4279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Rule RG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418320" y="4242816"/>
            <a:ext cx="1188720" cy="31089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473184" y="4279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ML @ 80%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607040" y="4242816"/>
            <a:ext cx="1188720" cy="31089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661904" y="4279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Winner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17920" y="4553712"/>
            <a:ext cx="201168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272783" y="4581144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Precision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0" y="4553712"/>
            <a:ext cx="118872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84464" y="458114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72%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418320" y="4553712"/>
            <a:ext cx="118872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473184" y="458114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60%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607040" y="4553712"/>
            <a:ext cx="118872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661904" y="4581144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Rule RG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17920" y="4864607"/>
            <a:ext cx="201168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272783" y="4892040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Recall (count)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229600" y="4864607"/>
            <a:ext cx="118872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84464" y="489204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37%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418320" y="4864607"/>
            <a:ext cx="118872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473184" y="489204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80%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607040" y="4864607"/>
            <a:ext cx="118872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661904" y="4892040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ML model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17920" y="5175504"/>
            <a:ext cx="201168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72783" y="5202936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Loss recall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0" y="5175504"/>
            <a:ext cx="118872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84464" y="520293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~37%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18320" y="5175504"/>
            <a:ext cx="118872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473184" y="520293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~85%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607040" y="5175504"/>
            <a:ext cx="1188720" cy="310896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661904" y="5202936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ML model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217920" y="5486400"/>
            <a:ext cx="201168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72783" y="55138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Net value €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229600" y="5486400"/>
            <a:ext cx="118872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284464" y="551383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~€118k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418320" y="5486400"/>
            <a:ext cx="118872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473184" y="551383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~€162k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607040" y="5486400"/>
            <a:ext cx="1188720" cy="310896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661904" y="5513832"/>
            <a:ext cx="1097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ML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03a —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28 features · No look-ahead leakage · closed='left' windows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57784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28 features — 22 numeric, 6 categorical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81328"/>
            <a:ext cx="557784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17904"/>
            <a:ext cx="55778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53619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Velocity  (9)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92224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0136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card_txn_count_24h/30d/90d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29968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03911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card_amount_sum_24h/30d/90d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67712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7685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card_amount_avg_24h/30d/90d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5577840" cy="3657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15184"/>
            <a:ext cx="55778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63347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A08C"/>
                </a:solidFill>
              </a:rPr>
              <a:t>Scale-free ratios (5)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9504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89864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card_txn_rate_30d/90d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27248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13639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amt_vs_card_avg_90d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64992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37413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burst_30_over_90 · velocity_ratio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75888"/>
            <a:ext cx="5577840" cy="365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712464"/>
            <a:ext cx="55778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7307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BC61"/>
                </a:solidFill>
              </a:rPr>
              <a:t>Temporal  (4)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86784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99592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hour_of_day · day_of_week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24528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23367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is_weekend · card_tenure_days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35424"/>
            <a:ext cx="557784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55778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5902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39C12"/>
                </a:solidFill>
              </a:rPr>
              <a:t>Categorical  (6)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85546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payment_method · card_level_name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84064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509320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member_role · local_amount_currency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21808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533095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is_physical · has_ever_any_transaction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632704"/>
            <a:ext cx="5577840" cy="36576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5669280"/>
            <a:ext cx="55778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6875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77777"/>
                </a:solidFill>
              </a:rPr>
              <a:t>Transaction  (4)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943600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595274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movement_amount_euros · velocity_ratio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181344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619048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  time_settled_diff · time_settled_diff2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1115568"/>
            <a:ext cx="5577840" cy="365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11887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Leakage prevention — design principles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1508760"/>
            <a:ext cx="557784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1508760"/>
            <a:ext cx="45720" cy="457200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1536192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BC61"/>
                </a:solidFill>
              </a:rPr>
              <a:t>closed='left'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8431" y="1536192"/>
            <a:ext cx="3703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Each rolling window excludes the current transaction row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1984248"/>
            <a:ext cx="557784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1984248"/>
            <a:ext cx="45720" cy="457200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2011680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BC61"/>
                </a:solidFill>
              </a:rPr>
              <a:t>Assertion guard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8431" y="2011680"/>
            <a:ext cx="3703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Pipeline fails if any first-card row has non-zero rolling count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2459736"/>
            <a:ext cx="557784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2459736"/>
            <a:ext cx="45720" cy="457200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7648" y="2487168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BC61"/>
                </a:solidFill>
              </a:rPr>
              <a:t>OOT split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28431" y="2487168"/>
            <a:ext cx="3703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Test = Nov–Dec 2022 — model never trained on these dates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2935224"/>
            <a:ext cx="5577840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2935224"/>
            <a:ext cx="45720" cy="457200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7648" y="2962656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BC61"/>
                </a:solidFill>
              </a:rPr>
              <a:t>Currency encoding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8431" y="2962656"/>
            <a:ext cx="3703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is_top_currency_fraud computed from training fraud rates only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3410712"/>
            <a:ext cx="557784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17920" y="3410712"/>
            <a:ext cx="45720" cy="457200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3438144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BC61"/>
                </a:solidFill>
              </a:rPr>
              <a:t>No target in feats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28431" y="3438144"/>
            <a:ext cx="3703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is_fraud not used as an input; target = label, not a signal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3950208"/>
            <a:ext cx="114300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40416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77777"/>
                </a:solidFill>
              </a:rPr>
              <a:t>Top-5 fraud currencies (train-derived, no count filter):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4315968"/>
            <a:ext cx="987552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54496" y="433425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MOP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45537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0B0"/>
                </a:solidFill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0" y="4315968"/>
            <a:ext cx="987552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51775" y="433425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GTQ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51775" y="45537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0B0"/>
                </a:solidFill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12480" y="4315968"/>
            <a:ext cx="987552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49055" y="433425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HKD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49055" y="45537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0B0"/>
                </a:solidFill>
              </a:rPr>
              <a:t>43.5%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09759" y="4315968"/>
            <a:ext cx="987552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46335" y="433425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VND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46335" y="45537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0B0"/>
                </a:solidFill>
              </a:rPr>
              <a:t>~30%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07040" y="4315968"/>
            <a:ext cx="987552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43615" y="433425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JPY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43615" y="45537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0B0"/>
                </a:solidFill>
              </a:rPr>
              <a:t>~25%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03b — LightGBM Model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PR-AUC primary · Early stopping · Imbalance via scale_pos_weight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57784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Model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81328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087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n_estimators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508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3,000  (early stopping ~1,340 iterations)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37944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65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scale_pos_weight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8653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√507 ≈ 22.5 — mild upweight for fraud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22199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min_child_samples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22199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150 — minimum samples per leaf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51176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5786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reg_lambda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5786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5.0 — L2 regularisation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07792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935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num_leaves /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9352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15 / 4 — shallow trees, low complexity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291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subsample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2918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0.6 with freq=1 — row sampling per tree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21024"/>
            <a:ext cx="5577840" cy="3383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36484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Eval metric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6484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average_precision (PR-AUC) 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77639"/>
            <a:ext cx="5577840" cy="3383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0050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Early stopping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005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200 rounds on validation PR-AUC 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52544"/>
            <a:ext cx="5577840" cy="365760"/>
          </a:xfrm>
          <a:prstGeom prst="rect">
            <a:avLst/>
          </a:prstGeom>
          <a:solidFill>
            <a:srgbClr val="222222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89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⚠  Bugs fixed vs. original notebook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645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eval_metric → average_precision  ·  early_stopping re-enabled  ·  scale_pos_weight restored  ·  is_top_currency_fraud train-only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115568"/>
            <a:ext cx="5577840" cy="365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1887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Test performance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481328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1517904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C1"/>
                </a:solidFill>
              </a:rPr>
              <a:t>0.7406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20299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PR-AUC —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83296" y="1481328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1517904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08C"/>
                </a:solidFill>
              </a:rPr>
              <a:t>0.9884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20299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ROC-AUC —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8672" y="1481328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0111" y="1517904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39C12"/>
                </a:solidFill>
              </a:rPr>
              <a:t>0.33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0111" y="20299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Threshold @ 80% 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4871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Operating point table — test set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743200"/>
            <a:ext cx="137160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2783" y="27797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Target recall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2743200"/>
            <a:ext cx="109728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44384" y="27797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2743200"/>
            <a:ext cx="109728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41664" y="27797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743200"/>
            <a:ext cx="118872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38944" y="27797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Alerts/wk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00" y="2743200"/>
            <a:ext cx="128016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27664" y="277977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Net value 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072384"/>
            <a:ext cx="13716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72783" y="3099815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30%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3072384"/>
            <a:ext cx="10972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44384" y="3099815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0.68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0" y="3072384"/>
            <a:ext cx="10972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41664" y="3099815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3072384"/>
            <a:ext cx="11887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38944" y="3099815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~15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972800" y="3072384"/>
            <a:ext cx="128016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27664" y="3099815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€102k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3401568"/>
            <a:ext cx="13716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72783" y="3428999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50%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9520" y="3401568"/>
            <a:ext cx="109728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44384" y="3428999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0.55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3401568"/>
            <a:ext cx="109728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41664" y="3428999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0.80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84080" y="3401568"/>
            <a:ext cx="11887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38944" y="3428999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~28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72800" y="3401568"/>
            <a:ext cx="128016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27664" y="3428999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€128k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3730752"/>
            <a:ext cx="13716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72783" y="3758184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70%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89520" y="3730752"/>
            <a:ext cx="10972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44384" y="3758184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0.44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3730752"/>
            <a:ext cx="10972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41664" y="3758184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0.72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84080" y="3730752"/>
            <a:ext cx="11887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38944" y="3758184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~46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2800" y="3730752"/>
            <a:ext cx="128016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027664" y="3758184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€148k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4059935"/>
            <a:ext cx="13716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72783" y="4087368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80% 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89520" y="4059935"/>
            <a:ext cx="109728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44384" y="4087368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0.33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86800" y="4059935"/>
            <a:ext cx="109728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41664" y="4087368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0.60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84080" y="4059935"/>
            <a:ext cx="11887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38944" y="4087368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~72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972800" y="4059935"/>
            <a:ext cx="128016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027664" y="4087368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€162k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7920" y="4389120"/>
            <a:ext cx="13716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72783" y="4416552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89520" y="4389120"/>
            <a:ext cx="10972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44384" y="4416552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0.18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686800" y="4389120"/>
            <a:ext cx="109728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741664" y="4416552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0.42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84080" y="4389120"/>
            <a:ext cx="11887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38944" y="4416552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~128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972800" y="4389120"/>
            <a:ext cx="128016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027664" y="4416552"/>
            <a:ext cx="118871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€140k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17920" y="4425696"/>
            <a:ext cx="5577840" cy="347472"/>
          </a:xfrm>
          <a:prstGeom prst="rect">
            <a:avLst/>
          </a:prstGeom>
          <a:solidFill>
            <a:srgbClr val="222222"/>
          </a:solidFill>
          <a:ln w="10160">
            <a:solidFill>
              <a:srgbClr val="1EB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55080" y="446227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BC61"/>
                </a:solidFill>
              </a:rPr>
              <a:t>★  Recommended: 80% recall @ threshold 0.33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55080" y="466344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Maximises net value on test  ·  PR-AUC gap = 0.000 (no overfitting)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04a — Three-Tier Response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Score-based triage · PSD2 compliant · Analyst SLA 4h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3749039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3749039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18872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AUTO-BLOCK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4173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Score ≥ 0.70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81912"/>
            <a:ext cx="3749039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6093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Card suspended immediately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39112"/>
            <a:ext cx="3749039" cy="43891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066543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Customer notified + re-authentication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96312"/>
            <a:ext cx="3749039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25237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SHAP explanation logged for disputes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53512"/>
            <a:ext cx="3749039" cy="43891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9809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~0.1% of all transactions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38144"/>
            <a:ext cx="3749039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346557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~0.1%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115568"/>
            <a:ext cx="374903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1170432"/>
            <a:ext cx="3749039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18872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ANALYST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4173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Score 0.33 – 0.70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1581912"/>
            <a:ext cx="3749039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16093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Soft decline + step-up SCA auth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2039112"/>
            <a:ext cx="3749039" cy="43891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2066543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Routed to analyst queue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2496312"/>
            <a:ext cx="3749039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25237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4-hour review SLA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2953512"/>
            <a:ext cx="3749039" cy="43891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29809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~0.5% of all transactions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3438144"/>
            <a:ext cx="3749039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46557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~0.5%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3024" y="1115568"/>
            <a:ext cx="3749039" cy="54864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3024" y="1170432"/>
            <a:ext cx="3749039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18872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BC61"/>
                </a:solidFill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14173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Score &lt; 0.33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93024" y="1581912"/>
            <a:ext cx="3749039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16093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Transaction approved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93024" y="2039112"/>
            <a:ext cx="3749039" cy="43891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066543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Logged for batch monitoring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93024" y="2496312"/>
            <a:ext cx="3749039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5237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Feeds retraining pipeline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4" y="2953512"/>
            <a:ext cx="3749039" cy="43891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298094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</a:rPr>
              <a:t>• ~99.4% of all transactions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4" y="3438144"/>
            <a:ext cx="3749039" cy="292608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46557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~99.4%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822191"/>
            <a:ext cx="114300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3931920"/>
            <a:ext cx="5577840" cy="3657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0050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PSD2 / SCA compliance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279392"/>
            <a:ext cx="557784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43068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SCA RTS Art. 18 TRA exemption: fraud rate must stay below 0.13% (≤€100) / 0.06% (≤€250)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617720"/>
            <a:ext cx="557784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" y="46451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At 0.4% test fraud rate Qonto cannot claim TRA exemption — SCA step-up is required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956048"/>
            <a:ext cx="557784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" y="49834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ML score triggers SCA step-up authentication, not a silent block — PSD2 compliant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294375"/>
            <a:ext cx="557784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53218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Every auto-block stored with SHAP explanation → right-to-explanation obligation met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931920"/>
            <a:ext cx="557784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40050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Analyst queue capacity model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4279392"/>
            <a:ext cx="182880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72783" y="43159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4279392"/>
            <a:ext cx="128016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01584" y="43159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Total alerts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26880" y="4279392"/>
            <a:ext cx="155448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81744" y="4315968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Daily volume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81360" y="4279392"/>
            <a:ext cx="169164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36224" y="431596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Analysts needed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4626864"/>
            <a:ext cx="1828800" cy="347472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72783" y="465429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Test period (61d)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4626864"/>
            <a:ext cx="1280160" cy="347472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01584" y="4654296"/>
            <a:ext cx="1188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~625 alerts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26880" y="4626864"/>
            <a:ext cx="1554480" cy="347472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81744" y="4654296"/>
            <a:ext cx="1463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~10 alerts/day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81360" y="4626864"/>
            <a:ext cx="1691640" cy="347472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36224" y="4654296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0.1 FTE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4974336"/>
            <a:ext cx="1828800" cy="347472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72783" y="50017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Production (1M/mo)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4974336"/>
            <a:ext cx="1280160" cy="347472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01584" y="5001768"/>
            <a:ext cx="1188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~5,300/mo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26880" y="4974336"/>
            <a:ext cx="1554480" cy="347472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81744" y="5001768"/>
            <a:ext cx="1463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~177 alerts/day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81360" y="4974336"/>
            <a:ext cx="1691640" cy="347472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36224" y="5001768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~2.2 FTE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502920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77777"/>
                </a:solidFill>
              </a:rPr>
              <a:t>Assumption: 80 cases/analyst/day · 80% recall op. 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04b — 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10 weeks to production · Low risk · Champion-Challenger from month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217627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2176272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</a:rPr>
              <a:t>Phase 0
Week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74C3C"/>
                </a:solidFill>
              </a:rPr>
              <a:t>Baseline Hardening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11095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Deploy RG rule to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78024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Validate prod pipeline encoding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44952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72384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Establish SLA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11879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3931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KPI: FP rate ≤ current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39" y="1115568"/>
            <a:ext cx="217627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39" y="1170432"/>
            <a:ext cx="2176272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79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</a:rPr>
              <a:t>Phase 1
Week 3–6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Shadow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39" y="1911095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79" y="1938528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ML runs in parallel, no blocking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2478024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2505456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Score vs. analyst decision 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39" y="3044952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79" y="3072384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Calibrate thresholds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39" y="3611879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79" y="363931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KPI: alignment &gt;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59" y="1115568"/>
            <a:ext cx="217627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59" y="1170432"/>
            <a:ext cx="2176272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199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</a:rPr>
              <a:t>Phase 2
Week 7–10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9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86C1"/>
                </a:solidFill>
              </a:rPr>
              <a:t>Soft Launch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59" y="1911095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199" y="1938528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Auto-block score ≥ 0.70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59" y="2478024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199" y="2505456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Analyst queue for 0.33–0.70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59" y="3044952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199" y="3072384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Daily monitoring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59" y="3611879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199" y="363931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KPI: catch rate +20% vs. rules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79" y="1115568"/>
            <a:ext cx="2176272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69479" y="1170432"/>
            <a:ext cx="2176272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19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</a:rPr>
              <a:t>Phase 3
Month 4+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19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E44AD"/>
                </a:solidFill>
              </a:rPr>
              <a:t>Champion-Challenger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79" y="1911095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19" y="1938528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New variant vs. incumbent A/B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79" y="2478024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2505456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Monthly retraining pipeline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79" y="3044952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60919" y="3072384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Feature Store 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79" y="3611879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19" y="363931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KPI: PR-AUC delta &gt; 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1115568"/>
            <a:ext cx="2176272" cy="54864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01200" y="1170432"/>
            <a:ext cx="2176272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</a:rPr>
              <a:t>Phase 4
Month 6+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08C"/>
                </a:solidFill>
              </a:rPr>
              <a:t>NRT Feature Store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1911095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1938528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Streaming velocity (Kafka/Flink)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01200" y="2478024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2505456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Redis sub-second features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0" y="3044952"/>
            <a:ext cx="217627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3072384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&lt; 200ms end-to-end scoring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3611879"/>
            <a:ext cx="217627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0" y="3639312"/>
            <a:ext cx="2011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KPI: P99 latency &lt; 200ms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242816"/>
            <a:ext cx="11430000" cy="137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315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</a:rPr>
              <a:t>Cross-functional RACI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572000"/>
            <a:ext cx="3474720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460857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Activity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4572000"/>
            <a:ext cx="1280160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95344" y="4608576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Fraud DS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4572000"/>
            <a:ext cx="1645920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75503" y="460857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Risk/Compliance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66559" y="4572000"/>
            <a:ext cx="1371600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21423" y="460857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38159" y="4572000"/>
            <a:ext cx="1188720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93023" y="460857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Analysts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572000"/>
            <a:ext cx="1097280" cy="2926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81744" y="46085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64608"/>
            <a:ext cx="34747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0624" y="4892040"/>
            <a:ext cx="3383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Model training &amp; validation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864608"/>
            <a:ext cx="128016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95344" y="4892040"/>
            <a:ext cx="11887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R/A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20640" y="4864608"/>
            <a:ext cx="16459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175503" y="4892040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766559" y="4864608"/>
            <a:ext cx="137160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21423" y="48920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59" y="4864608"/>
            <a:ext cx="11887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93023" y="48920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26880" y="4864608"/>
            <a:ext cx="109728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81744" y="4892040"/>
            <a:ext cx="10058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157216"/>
            <a:ext cx="347472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0624" y="5184648"/>
            <a:ext cx="3383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Threshold calibration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0480" y="5157216"/>
            <a:ext cx="128016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95344" y="5184648"/>
            <a:ext cx="11887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20640" y="5157216"/>
            <a:ext cx="164592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75503" y="5184648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66559" y="5157216"/>
            <a:ext cx="137160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21423" y="518464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38159" y="5157216"/>
            <a:ext cx="118872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93023" y="518464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26880" y="5157216"/>
            <a:ext cx="109728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81744" y="5184648"/>
            <a:ext cx="10058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449824"/>
            <a:ext cx="34747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0624" y="5477256"/>
            <a:ext cx="3383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Feature store deployment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40480" y="5449824"/>
            <a:ext cx="128016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895344" y="5477256"/>
            <a:ext cx="11887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20640" y="5449824"/>
            <a:ext cx="16459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75503" y="547725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66559" y="5449824"/>
            <a:ext cx="137160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21423" y="547725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R/A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38159" y="5449824"/>
            <a:ext cx="11887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93023" y="547725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26880" y="5449824"/>
            <a:ext cx="109728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381744" y="5477256"/>
            <a:ext cx="10058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5742432"/>
            <a:ext cx="347472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0624" y="5769864"/>
            <a:ext cx="3383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Analyst queue SLA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840480" y="5742432"/>
            <a:ext cx="128016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895344" y="5769864"/>
            <a:ext cx="11887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20640" y="5742432"/>
            <a:ext cx="164592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175503" y="576986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766559" y="5742432"/>
            <a:ext cx="137160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821423" y="576986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138159" y="5742432"/>
            <a:ext cx="118872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93023" y="576986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R/A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326880" y="5742432"/>
            <a:ext cx="1097280" cy="292608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381744" y="5769864"/>
            <a:ext cx="10058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5760" y="6035040"/>
            <a:ext cx="34747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20624" y="6062472"/>
            <a:ext cx="33832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PSD2 regulatory reporting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840480" y="6035040"/>
            <a:ext cx="128016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895344" y="6062472"/>
            <a:ext cx="118871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20640" y="6035040"/>
            <a:ext cx="16459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175503" y="60624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R/A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766559" y="6035040"/>
            <a:ext cx="137160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21423" y="606247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138159" y="6035040"/>
            <a:ext cx="118872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193023" y="606247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C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326880" y="6035040"/>
            <a:ext cx="109728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381744" y="6062472"/>
            <a:ext cx="10058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— 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Revenue protected · Analyst efficiency · Customer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577840" cy="365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77777"/>
                </a:solidFill>
              </a:rPr>
              <a:t>Extrapolated impact — 1M monthly txns, 0.4% fraud, €180 avg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BC61"/>
                </a:solidFill>
              </a:rPr>
              <a:t>+43pp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Recall lift
(37% → 80%)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46304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9961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</a:rPr>
              <a:t>+€310k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116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Extra revenue
/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05456"/>
            <a:ext cx="251460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254203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505456"/>
            <a:ext cx="123444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254203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Rule RG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505456"/>
            <a:ext cx="123444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3" y="254203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ML 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505456"/>
            <a:ext cx="141732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4103" y="254203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34640"/>
            <a:ext cx="25146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2862072"/>
            <a:ext cx="2423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2834640"/>
            <a:ext cx="123444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5224" y="2862072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37%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834640"/>
            <a:ext cx="123444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9663" y="2862072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2834640"/>
            <a:ext cx="14173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4103" y="2862072"/>
            <a:ext cx="13258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+43pp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63824"/>
            <a:ext cx="25146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3191256"/>
            <a:ext cx="2423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Precision @ op. point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3163824"/>
            <a:ext cx="123444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35224" y="3191256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72%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163824"/>
            <a:ext cx="123444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9663" y="3191256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60%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9240" y="3163824"/>
            <a:ext cx="14173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4103" y="3191256"/>
            <a:ext cx="13258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−12pp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493008"/>
            <a:ext cx="25146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3520440"/>
            <a:ext cx="2423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Frauds caught / month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3493008"/>
            <a:ext cx="123444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35224" y="3520440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~1,480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3493008"/>
            <a:ext cx="123444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9663" y="3520440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~3,200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3493008"/>
            <a:ext cx="14173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3" y="3520440"/>
            <a:ext cx="13258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+1,720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822191"/>
            <a:ext cx="25146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" y="3849624"/>
            <a:ext cx="2423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Revenue protected / mo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3822191"/>
            <a:ext cx="123444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35224" y="3849624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~€266k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3822191"/>
            <a:ext cx="123444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9663" y="3849624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~€576k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3822191"/>
            <a:ext cx="14173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04103" y="3849624"/>
            <a:ext cx="13258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+€310k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151376"/>
            <a:ext cx="251460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" y="4178808"/>
            <a:ext cx="2423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False positives / 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80360" y="4151376"/>
            <a:ext cx="123444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35224" y="4178808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~576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0" y="4151376"/>
            <a:ext cx="123444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69663" y="4178808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~2,133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4151376"/>
            <a:ext cx="1417320" cy="329184"/>
          </a:xfrm>
          <a:prstGeom prst="rect">
            <a:avLst/>
          </a:prstGeom>
          <a:solidFill>
            <a:srgbClr val="1A1A1A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4103" y="4178808"/>
            <a:ext cx="13258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+1,557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480560"/>
            <a:ext cx="251460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" y="4507992"/>
            <a:ext cx="2423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Analyst alerts / week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80360" y="4480560"/>
            <a:ext cx="123444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35224" y="4507992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~47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4480560"/>
            <a:ext cx="123444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69663" y="4507992"/>
            <a:ext cx="1143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~184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49240" y="4480560"/>
            <a:ext cx="1417320" cy="329184"/>
          </a:xfrm>
          <a:prstGeom prst="rect">
            <a:avLst/>
          </a:prstGeom>
          <a:solidFill>
            <a:srgbClr val="222222"/>
          </a:solidFill>
          <a:ln w="38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04103" y="4507992"/>
            <a:ext cx="13258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+137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460857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</a:rPr>
              <a:t>* Extrapolation: 1M monthly txns · 0.4% fraud rate · €180 avg fraud amount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1115568"/>
            <a:ext cx="5577840" cy="3657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118872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77777"/>
                </a:solidFill>
              </a:rPr>
              <a:t>Test-period results (61 days — actual model output)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146304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59" y="149961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BC61"/>
                </a:solidFill>
              </a:rPr>
              <a:t>€342k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359" y="20116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Fraud loss
prevented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52560" y="1463040"/>
            <a:ext cx="2560320" cy="91440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0" y="1499616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08C"/>
                </a:solidFill>
              </a:rPr>
              <a:t>€162k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20116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Net value
(−€181k FPs)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2505456"/>
            <a:ext cx="557784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0" y="257860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77777"/>
                </a:solidFill>
              </a:rPr>
              <a:t>Customer experience — false positive impact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2852928"/>
            <a:ext cx="557784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27648" y="2880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→ Higher alert volume vs. RG rule offset by 2× more fraud caught — net strongly positive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0" y="3255264"/>
            <a:ext cx="5577840" cy="38404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27648" y="32826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→ Auto-block triggers instant SMS + step-up auth — no silent card lock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3657600"/>
            <a:ext cx="557784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27648" y="3685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→ Every auto-block logged with SHAP explanation for dispute resolution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4059936"/>
            <a:ext cx="5577840" cy="38404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27648" y="40873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→ Quarterly FP rate audit by segment — fairness and proportionality check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17920" y="4462272"/>
            <a:ext cx="557784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27648" y="44897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→ Champion-Challenger A/B prevents regression in legitimate customer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05b — Specialist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What a senior fraud DS would build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97864"/>
            <a:ext cx="3749039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161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Graph / Network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27048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5453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GNN on card-merchant bipartite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19656"/>
            <a:ext cx="3749039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379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Node2Vec embeddings for mule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12264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1305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Community detection for fraud rings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143000"/>
            <a:ext cx="3749039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197864"/>
            <a:ext cx="3749039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161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Streaming Velocity (NRT)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527048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5453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Kafka + Flink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819656"/>
            <a:ext cx="3749039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8379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Redis feature store for &lt;1s windows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2112264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1305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Sub-200ms end-to-end latency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1143000"/>
            <a:ext cx="374903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1197864"/>
            <a:ext cx="3749039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2161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Survival Analysis (Labels)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1527048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15453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Chargebacks arrive 30–90 days late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1819656"/>
            <a:ext cx="3749039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18379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Parametric model for label delay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3024" y="2112264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1305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Right-censored training labels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493008"/>
            <a:ext cx="3749039" cy="54864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547872"/>
            <a:ext cx="3749039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566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08C"/>
                </a:solidFill>
              </a:rPr>
              <a:t>Merchant Risk Scoring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77056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8953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Separate model per MCC category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69664"/>
            <a:ext cx="3749039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1879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New merchant = elevated prior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62272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48055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Joined at inference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3493008"/>
            <a:ext cx="3749039" cy="54864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9392" y="3547872"/>
            <a:ext cx="3749039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3566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BC61"/>
                </a:solidFill>
              </a:rPr>
              <a:t>Adaptive Thresholds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9392" y="3877056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38953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Fraud rate varies by hour/geography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9392" y="4169664"/>
            <a:ext cx="3749039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1879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Hierarchical threshold calibration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9392" y="4462272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448055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Segment-specific operating points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93024" y="3493008"/>
            <a:ext cx="3749039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93024" y="3547872"/>
            <a:ext cx="3749039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3566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Model Risk Management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93024" y="3877056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02752" y="38953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Independent validation gate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93024" y="4169664"/>
            <a:ext cx="3749039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41879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PSI / CSI drift monitoring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93024" y="4462272"/>
            <a:ext cx="3749039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02752" y="448055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0B0"/>
                </a:solidFill>
              </a:rPr>
              <a:t>• Bias audit by segment quarterly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Q4 — Key Steps of a Modeling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7 steps · Why each matters · Concrete examples from this fraud detection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57784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52144"/>
            <a:ext cx="557784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C1"/>
                </a:solidFill>
              </a:rPr>
              <a:t>1 — Problem Definition &amp; Success 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08176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426464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</a:rPr>
              <a:t>Why:  Optimising the wrong objective produces a model that scores well but adds no business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36776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655064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↳  Chose PR-AUC over accuracy; defined success as net €-value (€342k prevented − €181k FP cost)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11095"/>
            <a:ext cx="5577840" cy="36576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947672"/>
            <a:ext cx="557784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965960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C"/>
                </a:solidFill>
              </a:rPr>
              <a:t>2 — Data Collection &amp;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03703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221991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</a:rPr>
              <a:t>Why:  Data issues compound through every later step — fixing them early is 10× cheaper than later.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32303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450591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↳  Found label leakage in is_top_currency_fraud; imputed 0.49% missing payment_method with 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06624"/>
            <a:ext cx="5577840" cy="36576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557784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761488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BC61"/>
                </a:solidFill>
              </a:rPr>
              <a:t>3 — Feature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99232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017520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</a:rPr>
              <a:t>Why:  Domain-driven features deliver more lift than algorithm tuning — most value lives here.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27832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246120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↳  9 velocity windows + scale-free ratios replaced raw amounts, removing €-scale dependence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02152"/>
            <a:ext cx="557784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538728"/>
            <a:ext cx="557784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557016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4 — Leakage Prevention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94760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813048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</a:rPr>
              <a:t>Why:  A leaky pipeline makes validation worthless and production silently worse than any baseline.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23360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041648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↳  closed='left' windows + train-only currency encoding verified by assertion on 39,877 rows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1115568"/>
            <a:ext cx="5577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1152144"/>
            <a:ext cx="557784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1170432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</a:rPr>
              <a:t>5 — Model Training &amp; Regularisation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1408176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1426464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</a:rPr>
              <a:t>Why:  Regularisation and imbalance handling determine generalisation, not just training performance.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1636776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1655064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↳  LightGBM: scale_pos_weight=√507, early stopping on PR-AUC, shallow trees (num_leaves=15)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911095"/>
            <a:ext cx="5577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6208" y="1947672"/>
            <a:ext cx="557784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1965960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</a:rPr>
              <a:t>6 — Evaluation &amp; Threshold Calibration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2203703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2221991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</a:rPr>
              <a:t>Why:  Raw scores need a decision boundary aligned to the actual business cost of FP vs. FN.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2432303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2450591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↳  Operating table across 5 recall levels; 80% recall @ threshold 0.33 maximises net €162k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8" y="2706624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6208" y="2743200"/>
            <a:ext cx="557784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2761488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7 — Production Monitoring &amp; Governance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2999232"/>
            <a:ext cx="5577840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3017520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</a:rPr>
              <a:t>Why:  Models degrade silently — fraud patterns shift weekly and feature distributions drift monthly.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6208" y="3227832"/>
            <a:ext cx="557784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3246120"/>
            <a:ext cx="5394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↳  PSI/CSI drift checks, monthly retraining pipeline, champion-challenger A/B, SHAP audit 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3593592"/>
            <a:ext cx="5577840" cy="548640"/>
          </a:xfrm>
          <a:prstGeom prst="rect">
            <a:avLst/>
          </a:prstGeom>
          <a:solidFill>
            <a:srgbClr val="222222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64224" y="3648456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86C1"/>
                </a:solidFill>
              </a:rPr>
              <a:t>Key insight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64224" y="384962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B0B0"/>
                </a:solidFill>
              </a:rPr>
              <a:t>Steps 2–4 (data quality, features, leakage prevention) typically deliver more model improvement than algorithm choice (step 5). Step 7 is where most production models ultimately fail.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43584"/>
            <a:ext cx="640080" cy="6949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86C1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243584"/>
            <a:ext cx="10789920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335024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</a:rPr>
              <a:t>Rules + ML hybrid outperforms either alone — RG rule is the strong, interpretable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8"/>
            <a:ext cx="11430000" cy="54864"/>
          </a:xfrm>
          <a:prstGeom prst="rect">
            <a:avLst/>
          </a:prstGeom>
          <a:solidFill>
            <a:srgbClr val="16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084832"/>
            <a:ext cx="640080" cy="6949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21408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08C"/>
                </a:solidFill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084832"/>
            <a:ext cx="10789920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176272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</a:rPr>
              <a:t>PR-AUC is the right metric; ROC-AUC alone is misleading at 0.4% fraud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71216"/>
            <a:ext cx="11430000" cy="54864"/>
          </a:xfrm>
          <a:prstGeom prst="rect">
            <a:avLst/>
          </a:prstGeom>
          <a:solidFill>
            <a:srgbClr val="1EB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640080" cy="6949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62656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BC61"/>
                </a:solidFill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2926080"/>
            <a:ext cx="10789920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01752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</a:rPr>
              <a:t>No look-ahead leakage — closed='left' windows + train-only currency encoding verified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12464"/>
            <a:ext cx="114300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67328"/>
            <a:ext cx="640080" cy="6949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03904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767328"/>
            <a:ext cx="10789920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858768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</a:rPr>
              <a:t>Three-tier architecture (≥ 0.70 / 0.33–0.70 / &lt; 0.33) enables auto-block + PSD2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53712"/>
            <a:ext cx="114300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608576"/>
            <a:ext cx="640080" cy="6949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645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608576"/>
            <a:ext cx="10789920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700016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</a:rPr>
              <a:t>+€310k/month revenue protected vs. RG rule baseline — payback estimated &lt; 60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77777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